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8" r:id="rId9"/>
    <p:sldId id="266" r:id="rId10"/>
    <p:sldId id="267" r:id="rId11"/>
    <p:sldId id="273" r:id="rId12"/>
    <p:sldId id="274" r:id="rId13"/>
    <p:sldId id="275" r:id="rId14"/>
    <p:sldId id="276" r:id="rId15"/>
    <p:sldId id="269" r:id="rId16"/>
    <p:sldId id="279" r:id="rId17"/>
    <p:sldId id="277" r:id="rId18"/>
    <p:sldId id="278" r:id="rId19"/>
    <p:sldId id="270" r:id="rId20"/>
    <p:sldId id="281" r:id="rId21"/>
    <p:sldId id="280" r:id="rId22"/>
    <p:sldId id="2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628" y="-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thi Gopal" userId="fb17da5fc7ee14bc" providerId="LiveId" clId="{ABB92AA2-17A4-4226-A883-294FD613FA12}"/>
    <pc:docChg chg="modSld">
      <pc:chgData name="Swathi Gopal" userId="fb17da5fc7ee14bc" providerId="LiveId" clId="{ABB92AA2-17A4-4226-A883-294FD613FA12}" dt="2026-04-15T18:37:05.075" v="0" actId="1036"/>
      <pc:docMkLst>
        <pc:docMk/>
      </pc:docMkLst>
      <pc:sldChg chg="modSp mod">
        <pc:chgData name="Swathi Gopal" userId="fb17da5fc7ee14bc" providerId="LiveId" clId="{ABB92AA2-17A4-4226-A883-294FD613FA12}" dt="2026-04-15T18:37:05.075" v="0" actId="1036"/>
        <pc:sldMkLst>
          <pc:docMk/>
          <pc:sldMk cId="3942012567" sldId="277"/>
        </pc:sldMkLst>
        <pc:picChg chg="mod">
          <ac:chgData name="Swathi Gopal" userId="fb17da5fc7ee14bc" providerId="LiveId" clId="{ABB92AA2-17A4-4226-A883-294FD613FA12}" dt="2026-04-15T18:37:05.075" v="0" actId="1036"/>
          <ac:picMkLst>
            <pc:docMk/>
            <pc:sldMk cId="3942012567" sldId="277"/>
            <ac:picMk id="9" creationId="{3DF15935-A4EC-6067-410C-92FB20C3AC8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36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3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0684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78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9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4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4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27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886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07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77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compbiomed.2024.109633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Relationship Id="rId4" Type="http://schemas.openxmlformats.org/officeDocument/2006/relationships/hyperlink" Target="https://www.cancerimagingarchive.net/collection/lidc-idri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9A9681A-2486-4655-A876-E26402CA2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696023-9A17-E230-2072-6080F6D536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6012" b="18990"/>
          <a:stretch>
            <a:fillRect/>
          </a:stretch>
        </p:blipFill>
        <p:spPr>
          <a:xfrm>
            <a:off x="2" y="152"/>
            <a:ext cx="12191998" cy="6857848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9BB6818-31C2-4340-98F8-64FF7F46A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254A31-5336-FB49-D670-82988A47E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1371599"/>
            <a:ext cx="7763691" cy="2688767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LIDC-IDRI Malignancy-3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03C901-7DEE-AC81-9CBB-18AA754F4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334000"/>
            <a:ext cx="2495006" cy="538766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Swathi Gopal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67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A558B-D800-F622-5C27-B8FE6649F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85057"/>
            <a:ext cx="10890929" cy="968829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20A68-DA58-3937-6149-23AA99074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426029"/>
            <a:ext cx="10890928" cy="4773603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DICOM and XML Mapping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Nodule Radiomics Features Using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Pylidc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Nodule 3D  Image Feature Using CNN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Nodule Distribution Statistics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Knowledge Completion Graph (KCG)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Malingnancy-3 Classification Using GNN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GNN, SVM and KNN Comparison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728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2594-8D09-7724-1005-C820F424E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9728"/>
            <a:ext cx="10890929" cy="109728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DE040-D43F-C28C-D255-445228D44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55914"/>
            <a:ext cx="10890928" cy="569235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the CT Scan Images of 1018 patients.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CT scan data is a 3D scan, which contains many slices of individual 2D cross-sectional images that stack to form each patient's full 3D CT volume.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image is in DICOM format.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patient CT scan record is analyzed by 4-5 Radiologist.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Radiologist provided analysis is recorded in an XML format.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Unique Identification Number to map between the corresponding patient CT Image and XML Description provided by the Radiologist.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DICOM files contain few features describing basic patient information and the patient position on performing the CT scan, which is relatable while analyzing the nodule position.</a:t>
            </a:r>
          </a:p>
        </p:txBody>
      </p:sp>
    </p:spTree>
    <p:extLst>
      <p:ext uri="{BB962C8B-B14F-4D97-AF65-F5344CB8AC3E}">
        <p14:creationId xmlns:p14="http://schemas.microsoft.com/office/powerpoint/2010/main" val="1853991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0BCCC-3F12-5976-64B9-FD203F4FB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9728"/>
            <a:ext cx="10890929" cy="93268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DICOM and XML Mapping</a:t>
            </a:r>
            <a:endParaRPr lang="en-US" dirty="0"/>
          </a:p>
        </p:txBody>
      </p:sp>
      <p:pic>
        <p:nvPicPr>
          <p:cNvPr id="5" name="Content Placeholder 4" descr="The image appears to be a snippet of an XML or JSON file containing information related to a medical imaging service request, specifically a CT image request.&#10;&#10;AI-generated content may be incorrect.">
            <a:extLst>
              <a:ext uri="{FF2B5EF4-FFF2-40B4-BE49-F238E27FC236}">
                <a16:creationId xmlns:a16="http://schemas.microsoft.com/office/drawing/2014/main" id="{BD8EB247-2C97-0486-13FA-3831B76FF8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0534" y="1197260"/>
            <a:ext cx="10485551" cy="2114659"/>
          </a:xfrm>
          <a:prstGeom prst="rect">
            <a:avLst/>
          </a:prstGeom>
        </p:spPr>
      </p:pic>
      <p:pic>
        <p:nvPicPr>
          <p:cNvPr id="7" name="Picture 6" descr="The image displays a series of identifiers and coordinates, including a study instance UID, series instance UID, study ID, series number, image position patient, image orientation patient, frame of reference UID, position reference indicator, and slice location, all related to a medical imaging study.&#10;&#10;AI-generated content may be incorrect.">
            <a:extLst>
              <a:ext uri="{FF2B5EF4-FFF2-40B4-BE49-F238E27FC236}">
                <a16:creationId xmlns:a16="http://schemas.microsoft.com/office/drawing/2014/main" id="{BA81A599-9720-9792-82A2-5C55F7D4A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01" y="3853030"/>
            <a:ext cx="10647484" cy="233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68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54726-8EC7-B9B0-134B-D885F6251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0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Nodule Radiomics Features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Pylidc</a:t>
            </a:r>
            <a:endParaRPr lang="en-US" dirty="0"/>
          </a:p>
        </p:txBody>
      </p:sp>
      <p:pic>
        <p:nvPicPr>
          <p:cNvPr id="5" name="Content Placeholder 4" descr="The image shows a black and white X-ray or CT scan image, likely depicting an abdominal or chest cavity with no visible internal structures.&#10;&#10;AI-generated content may be incorrect.">
            <a:extLst>
              <a:ext uri="{FF2B5EF4-FFF2-40B4-BE49-F238E27FC236}">
                <a16:creationId xmlns:a16="http://schemas.microsoft.com/office/drawing/2014/main" id="{251D0928-576F-0EB6-1629-4CB43077186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92" y="1207199"/>
            <a:ext cx="3565525" cy="3904297"/>
          </a:xfrm>
          <a:prstGeom prst="rect">
            <a:avLst/>
          </a:prstGeom>
        </p:spPr>
      </p:pic>
      <p:pic>
        <p:nvPicPr>
          <p:cNvPr id="12" name="Content Placeholder 11" descr="The image is a radiology scan with detailed annotations for four distinct nodules, including their slice location and number of annotations.&#10;&#10;AI-generated content may be incorrect.">
            <a:extLst>
              <a:ext uri="{FF2B5EF4-FFF2-40B4-BE49-F238E27FC236}">
                <a16:creationId xmlns:a16="http://schemas.microsoft.com/office/drawing/2014/main" id="{AB2E365C-845B-2B7D-D3EE-359B5001FC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350" y="1097280"/>
            <a:ext cx="720725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3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A8879-EC59-80D6-4468-8E57644C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0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Nodule Radiomics Features Using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Pylidc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Contd..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9A0ED1D-A056-EA06-0BC1-A6A5184B0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1399032"/>
            <a:ext cx="5212080" cy="4800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LIDC semantic annotation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Malignancy</a:t>
            </a:r>
          </a:p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Texture</a:t>
            </a:r>
          </a:p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Spiculation</a:t>
            </a:r>
          </a:p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Lobulation</a:t>
            </a:r>
          </a:p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</a:p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Sphericity</a:t>
            </a:r>
          </a:p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Subtlety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5591D0-008F-D43E-DA24-304FD04E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1399032"/>
            <a:ext cx="5212080" cy="4800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Measurable geometry and CT intensity</a:t>
            </a:r>
          </a:p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Diameter in mm</a:t>
            </a:r>
          </a:p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Volume mm3</a:t>
            </a:r>
          </a:p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 mean</a:t>
            </a:r>
          </a:p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 std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information</a:t>
            </a:r>
          </a:p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Centroid x</a:t>
            </a:r>
          </a:p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Centroid z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1771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16F0-5EA1-8CAF-20CE-20BEDF90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9728"/>
            <a:ext cx="10890929" cy="90525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Nodule 3D  Image Feature Using CNN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AEF116-CA84-32DD-F5BE-02A166B70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106424"/>
            <a:ext cx="10890928" cy="564184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Nodules that are examined by 3 or more than 3 Radiologist.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Nodules have a single radiologist provided analysis information, which indicates the lower confidence level, Hence the Nodules with lower confidence is not considered.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were 1392 Nodules identified for the 1018 patients.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the relevant DICOM images for processing.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Nodule 3D mask information, containing the height, Depth and Width (32x32x32) is extracted from the radiologist analysis and provided to the CNN.</a:t>
            </a:r>
          </a:p>
        </p:txBody>
      </p:sp>
    </p:spTree>
    <p:extLst>
      <p:ext uri="{BB962C8B-B14F-4D97-AF65-F5344CB8AC3E}">
        <p14:creationId xmlns:p14="http://schemas.microsoft.com/office/powerpoint/2010/main" val="3624076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0BAE5-65CE-92A7-8A9A-7437B727A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Nodule 3D  Image Feature Using CNN Contd..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F03C8-5CE9-7BE6-1993-5285CC01B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53312"/>
            <a:ext cx="10890928" cy="484632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is the patch size of each nodule dimension observed in the particular slice of CT scan.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CNN model extracted 64-dimensional features for each of the nodule DICOM image provided.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a total of 77 features, 13 radiomics features and 64 nodule image features.</a:t>
            </a:r>
          </a:p>
        </p:txBody>
      </p:sp>
    </p:spTree>
    <p:extLst>
      <p:ext uri="{BB962C8B-B14F-4D97-AF65-F5344CB8AC3E}">
        <p14:creationId xmlns:p14="http://schemas.microsoft.com/office/powerpoint/2010/main" val="3215622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ABFED-DADB-4448-3F8D-B3CCFD1A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0"/>
            <a:ext cx="10890929" cy="1097280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Nodule Distribution Statistics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DE649-B7A9-12CC-6167-9F606188E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170432"/>
            <a:ext cx="10890928" cy="50292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1392 Nodules which can be processed with 3 or more than 3 radiologist analyzed.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The image shows a bar chart illustrating the distribution of 1,392 total malignancy scores among nodules, with 513 classified as highly malignant, and a breakdown of the remaining scores from least to most malignant.&#10;&#10;AI-generated content may be incorrect.">
            <a:extLst>
              <a:ext uri="{FF2B5EF4-FFF2-40B4-BE49-F238E27FC236}">
                <a16:creationId xmlns:a16="http://schemas.microsoft.com/office/drawing/2014/main" id="{2DD37D86-D82E-E89B-20B1-A558939E1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14" y="1654629"/>
            <a:ext cx="10069529" cy="461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54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354F3-99B5-27F5-7F94-BAB19A369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487" y="28036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Knowledge Completion Graph (KCG)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34150-D0C1-76E8-0680-20F1202AC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990603"/>
            <a:ext cx="4563618" cy="5026144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KG adjacency: 113,394 edges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indicates the total number of unique connections found between the 703 patient scans based on the defined criteria.</a:t>
            </a:r>
          </a:p>
          <a:p>
            <a:pPr>
              <a:lnSpc>
                <a:spcPct val="11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density=46.0%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means that 46% of all possible connections between patient scans are present in the knowledge graph. This is quite a dense graph, which is why visualizing the entire graph directly is challenging.</a:t>
            </a:r>
          </a:p>
          <a:p>
            <a:pPr>
              <a:lnSpc>
                <a:spcPct val="11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avg_deg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=322.6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On average, each patient scan is connected to approximately 322 other patient scans in the graph</a:t>
            </a:r>
          </a:p>
          <a:p>
            <a:pPr>
              <a:lnSpc>
                <a:spcPct val="11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</p:txBody>
      </p:sp>
      <p:pic>
        <p:nvPicPr>
          <p:cNvPr id="5" name="Picture 4" descr="The image is a scatter plot showing the relationship between malignancy scores and feature indices, with 112,422 edges highlighted, indicating a high density of 45.561%.&#10;&#10;AI-generated content may be incorrect.">
            <a:extLst>
              <a:ext uri="{FF2B5EF4-FFF2-40B4-BE49-F238E27FC236}">
                <a16:creationId xmlns:a16="http://schemas.microsoft.com/office/drawing/2014/main" id="{124AA4A7-AAD8-3B99-56F8-F26711DB7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87" y="1110344"/>
            <a:ext cx="6487884" cy="483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824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ECF5C-3851-0499-C1E3-378931DF4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0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Knowledge Completion Graph (KCG) Contd..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E6832-C35B-B253-787E-11A841782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890928" cy="5102352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Graph (KG) is constructed based on the input vector, the 13 radiomics features.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KG completes the graph based on the similarities observed between two nodules.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two nodules share enough clinical attributes (based on the weighted sum or the directed count), the edge is drawn between them.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Radiomics features provided does not vary much there is a high chance of obtaining a highly dense network, hence a threshold is used to distinguish and consider only highly connected nodules.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knowledge graph alone is not sufficient for finding the relation between similar nodules, the missing part is the original CT image scan structure similarity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366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9F18-AFBB-5C1A-C1AC-7492E0D7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0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Knowledge Completion Graph (KCG) Contd..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9E389-32C6-1BAE-BD98-A4A7E157E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170432"/>
            <a:ext cx="10890928" cy="50292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Embeddings Core Embedding approach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Knowledge graph only Radiomics features encoding is considered whereas the GPS Embeddings consider the positional encoding of the nodules in the entire patient space.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structural similarity and form the edges or the connection between any two nodules.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Embedding uses the transformer architecture which the global attention mechanism where the attention is provided All to All nodules.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Encoding Solves two major problems “Over-Smoothing” and “Over-Squashing” which is observed from regular Knowledge graph.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6113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22432-6EA8-7914-0CF3-DBAB82643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1" y="0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Knowledge Completion Graph (KCG) Contd..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6B6C6-D316-90EA-FD92-75627E882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890928" cy="51023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Laplacian Eigenvectors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Laplacian Eigenvectors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 as a "spatial anchor," giving each nodule a unique ID based on its position in the graph.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Capturing Multi-Scale Topology, helps in connecting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the "forest" (global clusters) and the "trees" (local similarities). Also, these vectors specify the commuting distance between any two nodules considered.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D – A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 is degree matrix, considering the diagonal element is the sum of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Dii-th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 of and A is the Adjacency matrix.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the Knowledge graph embedding and Graph GPS embedding formed the 32-dimensional hybrid embedding and used in the GNN.</a:t>
            </a:r>
          </a:p>
          <a:p>
            <a:endParaRPr lang="en-US" sz="2800" dirty="0"/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286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AFC4-CE7D-535C-63F9-BBEE48F9E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1" y="0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Knowledge Completion Graph (KCG) Contd..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28924-8519-9793-096D-7B185246F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07592"/>
            <a:ext cx="10890928" cy="489204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GPS Layer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3 Layers (Input: 13 - Radiomics feature and CT image, output: 32D hybrid embeddings )</a:t>
            </a:r>
          </a:p>
          <a:p>
            <a:pPr lvl="2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Message Passing Layer</a:t>
            </a:r>
          </a:p>
          <a:p>
            <a:pPr lvl="2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Attention Layer (Transformer)</a:t>
            </a:r>
          </a:p>
          <a:p>
            <a:pPr lvl="2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Layer (batch normalization, Graph cluster processing approach)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687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7A00AB-2234-F94C-2BE5-AF4289235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BF94F-78A7-1C36-9F7F-DDE92515F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8"/>
            <a:ext cx="10890929" cy="109728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Malingnancy-3 Classification Using GNN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074CEA-EFF3-1BD0-AB40-DCDA048B4F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1033272"/>
                <a:ext cx="10890928" cy="516636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FontTx/>
                  <a:buChar char="-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Designed a GNN model to learn the Hybrid Embeddings of all the nodule types from Benign to Malign Cancer types, Excluding the non-classified or the indeterminate Nodules.</a:t>
                </a:r>
              </a:p>
              <a:p>
                <a:pPr>
                  <a:buFontTx/>
                  <a:buChar char="-"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GNN Architecture: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Linear layer, with input dimension 32 and the hidden dimension 64. Each Linear Layer is followed by Batch Normalization for handling residual scale issue.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GELU instead of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smoother gradient through Batch Normalization Layer.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Used Supervised Contrastive 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SupCon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Loss because regular binary cross entropy loss distinguishes only benign or malignant types treated as 0 or 1 based on the radiomics features, instead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SupCon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uses ground-truth labels to sensitize the model to differentiate based on the image as well.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⁡(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)/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exp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dot product of anchor nodule and positive match,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temperature and denomination is a similarity match to anchor nodule and all other nodule.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074CEA-EFF3-1BD0-AB40-DCDA048B4F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1033272"/>
                <a:ext cx="10890928" cy="5166360"/>
              </a:xfrm>
              <a:blipFill>
                <a:blip r:embed="rId3"/>
                <a:stretch>
                  <a:fillRect l="-504" t="-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4734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051C2-825E-75EA-46E8-D2E268652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234" y="10972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Malingnancy-3 Classification Using GNN Contd...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D1994-B134-F813-3CB9-71133A91B9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1207008"/>
                <a:ext cx="10890928" cy="4992624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Used </a:t>
                </a: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Mahalanobis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Distance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quantify the epistemic uncertainty of the model. By measuring the distance between a query embedding and the class-conditional distributions (centroids) in the latent space, the system can identify 'Indeterminate' samples that fall outside the learned manifold of known benign or malignant cases.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OOD Layer serves as a Spatial Validation Gate. It calculates a 'Reliability Score' based on how far a nodule sits from the core distribution of the training set. If a nodule's embedding is in Out-of-Distribution, prioritizing patient safety by triggering manual radiologist review.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√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p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</m:e>
                    </m:nary>
                  </m:oMath>
                </a14:m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x is the embedding vector, µ is the mean vector, ∑ is the inverse of covariance matrix. T, transpose of the distribution vector.</a:t>
                </a: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D1994-B134-F813-3CB9-71133A91B9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1207008"/>
                <a:ext cx="10890928" cy="4992624"/>
              </a:xfrm>
              <a:blipFill>
                <a:blip r:embed="rId3"/>
                <a:stretch>
                  <a:fillRect l="-839" t="-244" r="-1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4992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5E101-C28B-15B8-648B-A19F13946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90142"/>
            <a:ext cx="10890929" cy="93975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Malingnancy-3 Classification Using GNN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4D93F-F862-451C-5F7E-C639EDC9C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535" y="1042416"/>
            <a:ext cx="5212080" cy="867029"/>
          </a:xfrm>
        </p:spPr>
        <p:txBody>
          <a:bodyPr>
            <a:noAutofit/>
          </a:bodyPr>
          <a:lstStyle/>
          <a:p>
            <a:r>
              <a:rPr lang="en-US" sz="2400" cap="none" spc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Original Embedding Space, Compressed Dimension using PCA</a:t>
            </a:r>
          </a:p>
        </p:txBody>
      </p:sp>
      <p:pic>
        <p:nvPicPr>
          <p:cNvPr id="9" name="Content Placeholder 8" descr="The image depicts a PCA-2D scatter plot showing the distribution of different cancer types (benign, indeterminate, and malignant) in a trained backbone embedding space, with the number of principal components (PC1, PC2) and z-scores plotted on the axes.&#10;&#10;AI-generated content may be incorrect.">
            <a:extLst>
              <a:ext uri="{FF2B5EF4-FFF2-40B4-BE49-F238E27FC236}">
                <a16:creationId xmlns:a16="http://schemas.microsoft.com/office/drawing/2014/main" id="{3DF15935-A4EC-6067-410C-92FB20C3AC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63" y="2282612"/>
            <a:ext cx="5211762" cy="3627863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D0F572-965C-75CB-71EF-D12486A707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51525" y="1042416"/>
            <a:ext cx="5523611" cy="867029"/>
          </a:xfrm>
        </p:spPr>
        <p:txBody>
          <a:bodyPr>
            <a:noAutofit/>
          </a:bodyPr>
          <a:lstStyle/>
          <a:p>
            <a:r>
              <a:rPr lang="en-US" sz="2400" cap="none" spc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Embedding Indeterminate classification, Compressed Dimension using PCA</a:t>
            </a:r>
          </a:p>
        </p:txBody>
      </p:sp>
      <p:pic>
        <p:nvPicPr>
          <p:cNvPr id="11" name="Content Placeholder 10" descr="The image depicts a scatter plot in a two-dimensional PCA (Principal Component Analysis) space, color-coded to differentiate between benign and malignant scans, with additional color shading indicating confidence levels in the classification.&#10;&#10;AI-generated content may be incorrect.">
            <a:extLst>
              <a:ext uri="{FF2B5EF4-FFF2-40B4-BE49-F238E27FC236}">
                <a16:creationId xmlns:a16="http://schemas.microsoft.com/office/drawing/2014/main" id="{DE899B3B-6D3A-2940-D013-A68278213FD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02366"/>
            <a:ext cx="5211763" cy="358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012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0815-CDA2-DC60-45D4-E8114C01D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82880"/>
            <a:ext cx="10890929" cy="95097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Malingnancy-3 Classification Using GNN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dirty="0"/>
          </a:p>
        </p:txBody>
      </p:sp>
      <p:pic>
        <p:nvPicPr>
          <p:cNvPr id="5" name="Content Placeholder 4" descr="The image illustrates a comparison of classification accuracy (benign vs malignant) for different training methodologies (CE+SupCon, CE only, and SSO) across various epochs during a machine learning experiment.">
            <a:extLst>
              <a:ext uri="{FF2B5EF4-FFF2-40B4-BE49-F238E27FC236}">
                <a16:creationId xmlns:a16="http://schemas.microsoft.com/office/drawing/2014/main" id="{E56E4E02-5321-E2C8-CA47-59358D72A3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99" y="1248697"/>
            <a:ext cx="10874365" cy="48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889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95842-67EE-2B3D-AD0C-D6EED1EC0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5" y="210313"/>
            <a:ext cx="10890929" cy="74980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GNN and SVM</a:t>
            </a:r>
            <a:endParaRPr lang="en-US" dirty="0"/>
          </a:p>
        </p:txBody>
      </p:sp>
      <p:pic>
        <p:nvPicPr>
          <p:cNvPr id="13" name="Content Placeholder 12" descr="The diagram compares the accuracy of different methods, with GNN+MLP showing the highest accuracy at 0.9457.&#10;&#10;AI-generated content may be incorrect.">
            <a:extLst>
              <a:ext uri="{FF2B5EF4-FFF2-40B4-BE49-F238E27FC236}">
                <a16:creationId xmlns:a16="http://schemas.microsoft.com/office/drawing/2014/main" id="{AB8C4BC9-E5CF-F08C-01AF-AB505B110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4514" y="1251857"/>
            <a:ext cx="7061883" cy="418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68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3971-1DAF-DE9D-2453-2A06DC2F3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8"/>
            <a:ext cx="10890929" cy="109728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3DD75-F11F-BCF2-056A-30C3B931D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207008"/>
            <a:ext cx="10890928" cy="499262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different similarity measures like, Euclidean, Cosine,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other Classifier Methods like Random Forest, Logistic Regression,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Different Datasets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U-Net modal 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MedicalCLIP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Nodules Reviewed by single Radiologist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the relational data based on the patient meta data.</a:t>
            </a:r>
          </a:p>
        </p:txBody>
      </p:sp>
    </p:spTree>
    <p:extLst>
      <p:ext uri="{BB962C8B-B14F-4D97-AF65-F5344CB8AC3E}">
        <p14:creationId xmlns:p14="http://schemas.microsoft.com/office/powerpoint/2010/main" val="999544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D2859-3A82-0329-CC19-BE4B9BF01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9728"/>
            <a:ext cx="10890929" cy="109728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8B4E3-1ABF-FB46-D0D8-1713851BD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280160"/>
            <a:ext cx="10890928" cy="491947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Peeters, D.,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Venkadesh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V.,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Dinnessen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Saghir, Z., Scholten, E. T.,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Vliegenthart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Prokop, M., &amp; Jacobs, C. (2025). Towards safe and reliable deep learning for lung nodule malignancy estimation using out-of-distribution detection.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in Biology and Medicine, 186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Article 109633.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https://doi.org/10.1016/j.compbiomed.2024.109633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Armato, S. G., McLennan, G.,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Bidaut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L., McNitt-Gray, M. F., Meyer, C. R., Reeves, A. P., ... &amp; Clarke, L. P. (2011). The lung image database consortium (LIDC) and image database resource initiative (IDRI): a completed reference database of lung nodules on CT scans.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physics, 38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 915-931.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https://www.cancerimagingarchive.net/collection/lidc-idri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046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77A3EE-22E3-2F2C-67C2-161F255D5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2651761"/>
            <a:ext cx="10890929" cy="109728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5199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Override1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2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3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4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5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6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7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8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9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10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11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12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13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14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15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16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17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18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19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20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1817</TotalTime>
  <Words>1452</Words>
  <Application>Microsoft Office PowerPoint</Application>
  <PresentationFormat>Widescreen</PresentationFormat>
  <Paragraphs>108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Cambria Math</vt:lpstr>
      <vt:lpstr>Grandview Display</vt:lpstr>
      <vt:lpstr>Times New Roman</vt:lpstr>
      <vt:lpstr>DashVTI</vt:lpstr>
      <vt:lpstr>LIDC-IDRI Malignancy-3 Analysis</vt:lpstr>
      <vt:lpstr>AGENDA</vt:lpstr>
      <vt:lpstr>DATASET DESCRIPTION</vt:lpstr>
      <vt:lpstr>Dataset DICOM and XML Mapping</vt:lpstr>
      <vt:lpstr>Extracting Nodule Radiomics Features Using Pylidc</vt:lpstr>
      <vt:lpstr>Extracting Nodule Radiomics Features Using  Pylidc Contd..</vt:lpstr>
      <vt:lpstr>Extracting Nodule 3D  Image Feature Using CNN</vt:lpstr>
      <vt:lpstr>Extracting Nodule 3D  Image Feature Using CNN Contd..</vt:lpstr>
      <vt:lpstr>Nodule Distribution Statistics</vt:lpstr>
      <vt:lpstr>Preparing Knowledge Completion Graph (KCG)</vt:lpstr>
      <vt:lpstr>Preparing Knowledge Completion Graph (KCG) Contd..</vt:lpstr>
      <vt:lpstr>Preparing Knowledge Completion Graph (KCG) Contd..</vt:lpstr>
      <vt:lpstr>Preparing Knowledge Completion Graph (KCG) Contd..</vt:lpstr>
      <vt:lpstr>Preparing Knowledge Completion Graph (KCG) Contd..</vt:lpstr>
      <vt:lpstr>Malingnancy-3 Classification Using GNN</vt:lpstr>
      <vt:lpstr>Malingnancy-3 Classification Using GNN Contd...</vt:lpstr>
      <vt:lpstr>Malingnancy-3 Classification Using GNN Contd…</vt:lpstr>
      <vt:lpstr>Malingnancy-3 Classification Using GNN Contd…</vt:lpstr>
      <vt:lpstr>Comparison between GNN and SVM</vt:lpstr>
      <vt:lpstr>Future Work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Swathi Gopal</dc:creator>
  <cp:lastModifiedBy>Swathi Gopal</cp:lastModifiedBy>
  <cp:revision>88</cp:revision>
  <dcterms:created xsi:type="dcterms:W3CDTF">2026-04-13T01:06:20Z</dcterms:created>
  <dcterms:modified xsi:type="dcterms:W3CDTF">2026-04-15T18:37:15Z</dcterms:modified>
</cp:coreProperties>
</file>